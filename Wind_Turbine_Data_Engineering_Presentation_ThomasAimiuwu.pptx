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491" y="166255"/>
            <a:ext cx="11850254" cy="653934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Wind Turbine Data Engineering POC</a:t>
            </a:r>
          </a:p>
          <a:p>
            <a:r>
              <a:rPr sz="2000">
                <a:solidFill>
                  <a:srgbClr val="DCE6EE"/>
                </a:solidFill>
              </a:rPr>
              <a:t>PySpark pipeline for cleansing, statistics, anomaly detection and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3063240"/>
            <a:ext cx="3246120" cy="132588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8" y="3063240"/>
            <a:ext cx="73152" cy="1325880"/>
          </a:xfrm>
          <a:prstGeom prst="rect">
            <a:avLst/>
          </a:prstGeom>
          <a:solidFill>
            <a:srgbClr val="497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191256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3016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82E"/>
                </a:solidFill>
              </a:defRPr>
            </a:pPr>
            <a:r>
              <a:t>Daily CSV ingestion • 15 turbines • hourly measurements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3063240"/>
            <a:ext cx="3246120" cy="132588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15968" y="3063240"/>
            <a:ext cx="73152" cy="1325880"/>
          </a:xfrm>
          <a:prstGeom prst="rect">
            <a:avLst/>
          </a:prstGeom>
          <a:solidFill>
            <a:srgbClr val="35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59" y="3191256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Core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63016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82E"/>
                </a:solidFill>
              </a:defRPr>
            </a:pPr>
            <a:r>
              <a:t>Data quality • 24-hour summaries • 2σ anomaly rule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2127" y="3063240"/>
            <a:ext cx="3246120" cy="132588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82127" y="3063240"/>
            <a:ext cx="73152" cy="1325880"/>
          </a:xfrm>
          <a:prstGeom prst="rect">
            <a:avLst/>
          </a:prstGeom>
          <a:solidFill>
            <a:srgbClr val="C0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9" y="3191256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363016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82E"/>
                </a:solidFill>
              </a:defRPr>
            </a:pPr>
            <a:r>
              <a:t>Python + PySpark • Delta/database-ready • testable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19" y="274320"/>
            <a:ext cx="11439699" cy="643128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>
              <a:solidFill>
                <a:schemeClr val="accent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F3449"/>
                </a:solidFill>
              </a:rPr>
              <a:t>1. Problem and success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71016"/>
            <a:ext cx="10789920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82E"/>
                </a:solidFill>
              </a:defRPr>
            </a:pPr>
            <a:r>
              <a:rPr dirty="0"/>
              <a:t>• Build a scalable </a:t>
            </a:r>
            <a:r>
              <a:rPr dirty="0" err="1"/>
              <a:t>PySpark</a:t>
            </a:r>
            <a:r>
              <a:rPr dirty="0"/>
              <a:t> pipeline that processes daily CSVs containing the last 24 hours of turbine measurements.</a:t>
            </a:r>
          </a:p>
          <a:p>
            <a:pPr>
              <a:spcAft>
                <a:spcPts val="800"/>
              </a:spcAft>
              <a:defRPr sz="1700">
                <a:solidFill>
                  <a:srgbClr val="22282E"/>
                </a:solidFill>
              </a:defRPr>
            </a:pPr>
            <a:r>
              <a:rPr dirty="0"/>
              <a:t>• Clean missing values and outliers without hiding data-quality problems.</a:t>
            </a:r>
          </a:p>
          <a:p>
            <a:pPr>
              <a:spcAft>
                <a:spcPts val="800"/>
              </a:spcAft>
              <a:defRPr sz="1700">
                <a:solidFill>
                  <a:srgbClr val="22282E"/>
                </a:solidFill>
              </a:defRPr>
            </a:pPr>
            <a:r>
              <a:rPr dirty="0"/>
              <a:t>• For each turbine and 24-hour period, calculate minimum, maximum and average power output.</a:t>
            </a:r>
          </a:p>
          <a:p>
            <a:pPr>
              <a:spcAft>
                <a:spcPts val="800"/>
              </a:spcAft>
              <a:defRPr sz="1700">
                <a:solidFill>
                  <a:srgbClr val="22282E"/>
                </a:solidFill>
              </a:defRPr>
            </a:pPr>
            <a:r>
              <a:rPr dirty="0"/>
              <a:t>• Identify abnormal turbine </a:t>
            </a:r>
            <a:r>
              <a:rPr dirty="0" err="1"/>
              <a:t>behavio</a:t>
            </a:r>
            <a:r>
              <a:rPr lang="en-GB" dirty="0"/>
              <a:t>u</a:t>
            </a:r>
            <a:r>
              <a:rPr dirty="0"/>
              <a:t>r</a:t>
            </a:r>
            <a:r>
              <a:rPr lang="en-GB" dirty="0"/>
              <a:t>s</a:t>
            </a:r>
            <a:r>
              <a:rPr dirty="0"/>
              <a:t> using a transparent 2-standard-deviation rule.</a:t>
            </a:r>
          </a:p>
          <a:p>
            <a:pPr>
              <a:spcAft>
                <a:spcPts val="800"/>
              </a:spcAft>
              <a:defRPr sz="1700">
                <a:solidFill>
                  <a:srgbClr val="22282E"/>
                </a:solidFill>
              </a:defRPr>
            </a:pPr>
            <a:r>
              <a:rPr dirty="0"/>
              <a:t>• Persist both cleaned measurements and analytical outputs for downstream reporting.</a:t>
            </a:r>
          </a:p>
          <a:p>
            <a:pPr>
              <a:spcAft>
                <a:spcPts val="800"/>
              </a:spcAft>
              <a:defRPr sz="1700">
                <a:solidFill>
                  <a:srgbClr val="22282E"/>
                </a:solidFill>
              </a:defRPr>
            </a:pPr>
            <a:r>
              <a:rPr dirty="0"/>
              <a:t>• Keep the POC simple, testable and easy to production.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" y="3648456"/>
            <a:ext cx="4956048" cy="1975104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3758184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1F3449"/>
                </a:solidFill>
              </a:rPr>
              <a:t>Key design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" y="4407408"/>
            <a:ext cx="3342132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rPr dirty="0"/>
              <a:t>Separate ingestion, validation, transformation, anomaly logic and persistence so each stage can be tested independently.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7855" y="147782"/>
            <a:ext cx="11628581" cy="6604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449"/>
                </a:solidFill>
              </a:rPr>
              <a:t>2. What the supplied data looks like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234440"/>
            <a:ext cx="3307385" cy="169164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1234440"/>
          </a:xfrm>
          <a:prstGeom prst="rect">
            <a:avLst/>
          </a:prstGeom>
          <a:solidFill>
            <a:srgbClr val="35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62456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88" y="1609344"/>
            <a:ext cx="2740153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2282E"/>
                </a:solidFill>
              </a:defRPr>
            </a:pPr>
            <a:r>
              <a:rPr dirty="0"/>
              <a:t>timestamp</a:t>
            </a:r>
            <a:br>
              <a:rPr dirty="0"/>
            </a:br>
            <a:r>
              <a:rPr dirty="0" err="1"/>
              <a:t>turbine_id</a:t>
            </a:r>
            <a:br>
              <a:rPr dirty="0"/>
            </a:br>
            <a:r>
              <a:rPr dirty="0" err="1"/>
              <a:t>wind_speed</a:t>
            </a:r>
            <a:br>
              <a:rPr dirty="0"/>
            </a:br>
            <a:r>
              <a:rPr dirty="0" err="1"/>
              <a:t>wind_direction</a:t>
            </a:r>
            <a:br>
              <a:rPr dirty="0"/>
            </a:br>
            <a:r>
              <a:rPr dirty="0" err="1"/>
              <a:t>power_output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358944" y="1234439"/>
            <a:ext cx="3413455" cy="1496851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73152" cy="1234440"/>
          </a:xfrm>
          <a:prstGeom prst="rect">
            <a:avLst/>
          </a:prstGeom>
          <a:solidFill>
            <a:srgbClr val="497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362456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Source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801368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2282E"/>
                </a:solidFill>
              </a:defRPr>
            </a:pPr>
            <a:r>
              <a:t>3 groups × 5 turbines</a:t>
            </a:r>
            <a:br/>
            <a:r>
              <a:t>One turbine stays in its group file</a:t>
            </a:r>
            <a:br/>
            <a:r>
              <a:t>Files are appended/updated daily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474720" cy="149685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73152" cy="1234440"/>
          </a:xfrm>
          <a:prstGeom prst="rect">
            <a:avLst/>
          </a:prstGeom>
          <a:solidFill>
            <a:srgbClr val="C0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362456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Observed valid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801368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2282E"/>
                </a:solidFill>
              </a:defRPr>
            </a:pPr>
            <a:r>
              <a:t>data_group_3.csv</a:t>
            </a:r>
            <a:br/>
            <a:r>
              <a:t>3,720 rows</a:t>
            </a:r>
            <a:br/>
            <a:r>
              <a:t>15 turbines total described by scenario</a:t>
            </a:r>
            <a:br/>
            <a:r>
              <a:t>March 2022: 31 days × 24 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45536"/>
            <a:ext cx="6492240" cy="3374136"/>
          </a:xfrm>
          <a:prstGeom prst="roundRect">
            <a:avLst/>
          </a:prstGeom>
          <a:solidFill>
            <a:srgbClr val="F7F8F9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" y="3429000"/>
            <a:ext cx="59344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%python</a:t>
            </a:r>
          </a:p>
          <a:p>
            <a:r>
              <a:rPr lang="en-GB" dirty="0"/>
              <a:t>schema = """timestamp </a:t>
            </a:r>
            <a:r>
              <a:rPr lang="en-GB" dirty="0" err="1"/>
              <a:t>timestamp,turbine_id</a:t>
            </a:r>
            <a:r>
              <a:rPr lang="en-GB" dirty="0"/>
              <a:t> </a:t>
            </a:r>
            <a:r>
              <a:rPr lang="en-GB" dirty="0" err="1"/>
              <a:t>int,wind_speed</a:t>
            </a:r>
            <a:r>
              <a:rPr lang="en-GB" dirty="0"/>
              <a:t> </a:t>
            </a:r>
            <a:r>
              <a:rPr lang="en-GB" dirty="0" err="1"/>
              <a:t>double,wind_direction</a:t>
            </a:r>
            <a:r>
              <a:rPr lang="en-GB" dirty="0"/>
              <a:t> </a:t>
            </a:r>
            <a:r>
              <a:rPr lang="en-GB" dirty="0" err="1"/>
              <a:t>int,power_output</a:t>
            </a:r>
            <a:r>
              <a:rPr lang="en-GB" dirty="0"/>
              <a:t> double"""</a:t>
            </a:r>
          </a:p>
          <a:p>
            <a:endParaRPr lang="en-GB" dirty="0"/>
          </a:p>
          <a:p>
            <a:r>
              <a:rPr lang="en-GB" dirty="0" err="1"/>
              <a:t>df</a:t>
            </a:r>
            <a:r>
              <a:rPr lang="en-GB" dirty="0"/>
              <a:t> = (</a:t>
            </a:r>
            <a:r>
              <a:rPr lang="en-GB" dirty="0" err="1"/>
              <a:t>spark.read.option</a:t>
            </a:r>
            <a:r>
              <a:rPr lang="en-GB" dirty="0"/>
              <a:t>("header", "true").schema(schema).csv('s3://osasa-s3-demo-bucket/</a:t>
            </a:r>
            <a:r>
              <a:rPr lang="en-GB" dirty="0" err="1"/>
              <a:t>operational_data</a:t>
            </a:r>
            <a:r>
              <a:rPr lang="en-GB" dirty="0"/>
              <a:t>/</a:t>
            </a:r>
            <a:r>
              <a:rPr lang="en-GB" dirty="0" err="1"/>
              <a:t>colibric</a:t>
            </a:r>
            <a:r>
              <a:rPr lang="en-GB" dirty="0"/>
              <a:t>/'))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926080"/>
            <a:ext cx="4297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2282E"/>
                </a:solidFill>
              </a:defRPr>
            </a:pPr>
            <a:r>
              <a:rPr dirty="0"/>
              <a:t>• Important file check: the uploaded data_group_3.csv is a valid CSV. The two uploaded files named _data_group_1.csv and _data_group_2.csv contain Apple/macOS metadata rather than turbine rows; the pipeline therefore assumes the real production files follow the stated schema.</a:t>
            </a:r>
          </a:p>
          <a:p>
            <a:pPr>
              <a:spcAft>
                <a:spcPts val="800"/>
              </a:spcAft>
              <a:defRPr sz="1250">
                <a:solidFill>
                  <a:srgbClr val="22282E"/>
                </a:solidFill>
              </a:defRPr>
            </a:pPr>
            <a:r>
              <a:rPr dirty="0"/>
              <a:t>• That does not change the design: file discovery is schema-validated and invalid inputs are rejected/quarantined.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2436" y="73890"/>
            <a:ext cx="11841019" cy="667789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449"/>
                </a:solidFill>
              </a:rPr>
              <a:t>3. Solution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178308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355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3449"/>
                </a:solidFill>
              </a:rPr>
              <a:t>CSV landing
3 group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920240"/>
            <a:ext cx="178308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497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3449"/>
                </a:solidFill>
              </a:rPr>
              <a:t>Schema +
quality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920240"/>
            <a:ext cx="178308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355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3449"/>
                </a:solidFill>
              </a:rPr>
              <a:t>Clean / standardise
PySpark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920240"/>
            <a:ext cx="178308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C07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3449"/>
                </a:solidFill>
              </a:rPr>
              <a:t>24h aggregates +
anomaly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1920240"/>
            <a:ext cx="178308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497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3449"/>
                </a:solidFill>
              </a:rPr>
              <a:t>Delta / database
serving tables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04288" y="2267712"/>
            <a:ext cx="320040" cy="0"/>
          </a:xfrm>
          <a:prstGeom prst="rightArrow">
            <a:avLst/>
          </a:prstGeom>
          <a:solidFill>
            <a:srgbClr val="68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4498848" y="2267712"/>
            <a:ext cx="320039" cy="0"/>
          </a:xfrm>
          <a:prstGeom prst="rightArrow">
            <a:avLst/>
          </a:prstGeom>
          <a:solidFill>
            <a:srgbClr val="68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6693408" y="2267712"/>
            <a:ext cx="320039" cy="0"/>
          </a:xfrm>
          <a:prstGeom prst="rightArrow">
            <a:avLst/>
          </a:prstGeom>
          <a:solidFill>
            <a:srgbClr val="68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8887968" y="2267712"/>
            <a:ext cx="320039" cy="0"/>
          </a:xfrm>
          <a:prstGeom prst="rightArrow">
            <a:avLst/>
          </a:prstGeom>
          <a:solidFill>
            <a:srgbClr val="68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3977639"/>
            <a:ext cx="29718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3977639"/>
            <a:ext cx="73152" cy="1234440"/>
          </a:xfrm>
          <a:prstGeom prst="rect">
            <a:avLst/>
          </a:prstGeom>
          <a:solidFill>
            <a:srgbClr val="35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4105655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Bronze / raw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544568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Preserve source values and file metadata. Enables replay and audit.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977639"/>
            <a:ext cx="29718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17720" y="3977639"/>
            <a:ext cx="73152" cy="1234440"/>
          </a:xfrm>
          <a:prstGeom prst="rect">
            <a:avLst/>
          </a:prstGeom>
          <a:solidFill>
            <a:srgbClr val="497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82312" y="4105655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Silver / clean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4544568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Typed columns, validated ranges, missing-value treatment and deduplication.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977639"/>
            <a:ext cx="29718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3977639"/>
            <a:ext cx="73152" cy="1234440"/>
          </a:xfrm>
          <a:prstGeom prst="rect">
            <a:avLst/>
          </a:prstGeom>
          <a:solidFill>
            <a:srgbClr val="C0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4105655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Gold /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4544568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Daily turbine statistics plus anomaly flags for reporting and alerting.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4727" y="82296"/>
            <a:ext cx="11924146" cy="6623304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449"/>
                </a:solidFill>
              </a:rPr>
              <a:t>4. Data quality and cleansing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t>• Schema: enforce timestamp, turbine_id, wind_speed, wind_direction and power_output types rather than relying on inference.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t>• Missing values: for the POC, impute continuous sensor values with a turbine-level median over the available period; retain a quality flag.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t>• Invalid physical ranges: wind speed &lt; 0 or power output &lt; 0 are invalid; wind direction must be 0–359.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t>• Outliers: use a robust engineering rule rather than blindly deleting values. Flag first; only exclude from analytical aggregates when the value is clearly outside the accepted range or test threshold.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t>• Duplicates: de-duplicate on (turbine_id, timestamp), keeping the latest ingestion record.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t>• Missing hourly readings: do not fabricate power measurements; track expected-versus-observed readings so sensor gaps remain visible.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3968496"/>
            <a:ext cx="11155680" cy="2615184"/>
          </a:xfrm>
          <a:prstGeom prst="roundRect">
            <a:avLst/>
          </a:prstGeom>
          <a:solidFill>
            <a:srgbClr val="F7F8F9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4079438"/>
            <a:ext cx="95646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%python</a:t>
            </a:r>
          </a:p>
          <a:p>
            <a:r>
              <a:rPr lang="en-GB" dirty="0"/>
              <a:t>from </a:t>
            </a:r>
            <a:r>
              <a:rPr lang="en-GB" dirty="0" err="1"/>
              <a:t>pyspark.sql</a:t>
            </a:r>
            <a:r>
              <a:rPr lang="en-GB" dirty="0"/>
              <a:t> import functions as F</a:t>
            </a:r>
          </a:p>
          <a:p>
            <a:r>
              <a:rPr lang="en-GB" dirty="0"/>
              <a:t>from </a:t>
            </a:r>
            <a:r>
              <a:rPr lang="en-GB" dirty="0" err="1"/>
              <a:t>pyspark.sql.window</a:t>
            </a:r>
            <a:r>
              <a:rPr lang="en-GB" dirty="0"/>
              <a:t> import Window</a:t>
            </a:r>
          </a:p>
          <a:p>
            <a:r>
              <a:rPr lang="en-GB" dirty="0"/>
              <a:t>w = </a:t>
            </a:r>
            <a:r>
              <a:rPr lang="en-GB" dirty="0" err="1"/>
              <a:t>Window.partitionBy</a:t>
            </a:r>
            <a:r>
              <a:rPr lang="en-GB" dirty="0"/>
              <a:t>("</a:t>
            </a:r>
            <a:r>
              <a:rPr lang="en-GB" dirty="0" err="1"/>
              <a:t>turbine_id</a:t>
            </a:r>
            <a:r>
              <a:rPr lang="en-GB" dirty="0"/>
              <a:t>")</a:t>
            </a:r>
          </a:p>
          <a:p>
            <a:endParaRPr lang="en-GB" dirty="0"/>
          </a:p>
          <a:p>
            <a:r>
              <a:rPr lang="en-GB" dirty="0"/>
              <a:t>clean  = (</a:t>
            </a:r>
            <a:r>
              <a:rPr lang="en-GB" dirty="0" err="1"/>
              <a:t>df.withColumn</a:t>
            </a:r>
            <a:r>
              <a:rPr lang="en-GB" dirty="0"/>
              <a:t>("timestamp", </a:t>
            </a:r>
            <a:r>
              <a:rPr lang="en-GB" dirty="0" err="1"/>
              <a:t>F.to_timestamp</a:t>
            </a:r>
            <a:r>
              <a:rPr lang="en-GB" dirty="0"/>
              <a:t>("timestamp")).</a:t>
            </a:r>
            <a:r>
              <a:rPr lang="en-GB" dirty="0" err="1"/>
              <a:t>withColumn</a:t>
            </a:r>
            <a:r>
              <a:rPr lang="en-GB" dirty="0"/>
              <a:t>("</a:t>
            </a:r>
            <a:r>
              <a:rPr lang="en-GB" dirty="0" err="1"/>
              <a:t>power_output</a:t>
            </a:r>
            <a:r>
              <a:rPr lang="en-GB" dirty="0"/>
              <a:t>", </a:t>
            </a:r>
            <a:r>
              <a:rPr lang="en-GB" dirty="0" err="1"/>
              <a:t>F.col</a:t>
            </a:r>
            <a:r>
              <a:rPr lang="en-GB" dirty="0"/>
              <a:t>("</a:t>
            </a:r>
            <a:r>
              <a:rPr lang="en-GB" dirty="0" err="1"/>
              <a:t>power_output</a:t>
            </a:r>
            <a:r>
              <a:rPr lang="en-GB" dirty="0"/>
              <a:t>").cast("double")).</a:t>
            </a:r>
            <a:r>
              <a:rPr lang="en-GB" dirty="0" err="1"/>
              <a:t>dropDuplicates</a:t>
            </a:r>
            <a:r>
              <a:rPr lang="en-GB" dirty="0"/>
              <a:t>(["</a:t>
            </a:r>
            <a:r>
              <a:rPr lang="en-GB" dirty="0" err="1"/>
              <a:t>turbine_id</a:t>
            </a:r>
            <a:r>
              <a:rPr lang="en-GB" dirty="0"/>
              <a:t>", "timestamp"]).</a:t>
            </a:r>
            <a:r>
              <a:rPr lang="en-GB" dirty="0" err="1"/>
              <a:t>withColumn</a:t>
            </a:r>
            <a:r>
              <a:rPr lang="en-GB" dirty="0"/>
              <a:t>("</a:t>
            </a:r>
            <a:r>
              <a:rPr lang="en-GB" dirty="0" err="1"/>
              <a:t>dq_missing_power</a:t>
            </a:r>
            <a:r>
              <a:rPr lang="en-GB" dirty="0"/>
              <a:t>", </a:t>
            </a:r>
            <a:r>
              <a:rPr lang="en-GB" dirty="0" err="1"/>
              <a:t>F.col</a:t>
            </a:r>
            <a:r>
              <a:rPr lang="en-GB" dirty="0"/>
              <a:t>("</a:t>
            </a:r>
            <a:r>
              <a:rPr lang="en-GB" dirty="0" err="1"/>
              <a:t>power_output</a:t>
            </a:r>
            <a:r>
              <a:rPr lang="en-GB" dirty="0"/>
              <a:t>").</a:t>
            </a:r>
            <a:r>
              <a:rPr lang="en-GB" dirty="0" err="1"/>
              <a:t>isNull</a:t>
            </a:r>
            <a:r>
              <a:rPr lang="en-GB" dirty="0"/>
              <a:t>()))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7782" y="356616"/>
            <a:ext cx="11859491" cy="631203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449"/>
                </a:solidFill>
              </a:rPr>
              <a:t>5. PySpark transformation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6492240" cy="2743200"/>
          </a:xfrm>
          <a:prstGeom prst="roundRect">
            <a:avLst/>
          </a:prstGeom>
          <a:solidFill>
            <a:srgbClr val="F7F8F9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824728" cy="1746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%python</a:t>
            </a:r>
          </a:p>
          <a:p>
            <a:r>
              <a:rPr lang="en-GB" sz="1000" dirty="0"/>
              <a:t>from </a:t>
            </a:r>
            <a:r>
              <a:rPr lang="en-GB" sz="1000" dirty="0" err="1"/>
              <a:t>pyspark.sql</a:t>
            </a:r>
            <a:r>
              <a:rPr lang="en-GB" sz="1000" dirty="0"/>
              <a:t> import functions as F</a:t>
            </a:r>
          </a:p>
          <a:p>
            <a:r>
              <a:rPr lang="en-GB" sz="1000" dirty="0"/>
              <a:t>from </a:t>
            </a:r>
            <a:r>
              <a:rPr lang="en-GB" sz="1000" dirty="0" err="1"/>
              <a:t>pyspark.sql.window</a:t>
            </a:r>
            <a:r>
              <a:rPr lang="en-GB" sz="1000" dirty="0"/>
              <a:t> import Window</a:t>
            </a:r>
          </a:p>
          <a:p>
            <a:pPr>
              <a:defRPr sz="1150">
                <a:solidFill>
                  <a:srgbClr val="22282E"/>
                </a:solidFill>
                <a:latin typeface="Consolas"/>
              </a:defRPr>
            </a:pPr>
            <a:r>
              <a:rPr lang="en-GB" sz="1150" dirty="0"/>
              <a:t>w = </a:t>
            </a:r>
            <a:r>
              <a:rPr lang="en-GB" sz="1150" dirty="0" err="1"/>
              <a:t>Window.partitionBy</a:t>
            </a:r>
            <a:r>
              <a:rPr lang="en-GB" sz="1150" dirty="0"/>
              <a:t>("</a:t>
            </a:r>
            <a:r>
              <a:rPr lang="en-GB" sz="1150" dirty="0" err="1"/>
              <a:t>turbine_id</a:t>
            </a:r>
            <a:r>
              <a:rPr lang="en-GB" sz="1150" dirty="0"/>
              <a:t>")</a:t>
            </a:r>
          </a:p>
          <a:p>
            <a:pPr>
              <a:defRPr sz="1150">
                <a:solidFill>
                  <a:srgbClr val="22282E"/>
                </a:solidFill>
                <a:latin typeface="Consolas"/>
              </a:defRPr>
            </a:pPr>
            <a:endParaRPr lang="en-GB" dirty="0"/>
          </a:p>
          <a:p>
            <a:r>
              <a:rPr lang="en-GB" sz="1150" dirty="0"/>
              <a:t>transformed  </a:t>
            </a:r>
            <a:r>
              <a:rPr lang="en-GB" sz="1050" dirty="0"/>
              <a:t> = (</a:t>
            </a:r>
            <a:r>
              <a:rPr lang="en-GB" sz="1050" dirty="0" err="1"/>
              <a:t>clean.withColumn</a:t>
            </a:r>
            <a:r>
              <a:rPr lang="en-GB" sz="1050" dirty="0"/>
              <a:t>("power_median",</a:t>
            </a:r>
            <a:r>
              <a:rPr lang="en-GB" sz="1050" dirty="0" err="1"/>
              <a:t>F.expr</a:t>
            </a:r>
            <a:r>
              <a:rPr lang="en-GB" sz="1050" dirty="0"/>
              <a:t>("</a:t>
            </a:r>
            <a:r>
              <a:rPr lang="en-GB" sz="1050" dirty="0" err="1"/>
              <a:t>percentile_approx</a:t>
            </a:r>
            <a:r>
              <a:rPr lang="en-GB" sz="1050" dirty="0"/>
              <a:t>(</a:t>
            </a:r>
            <a:r>
              <a:rPr lang="en-GB" sz="1050" dirty="0" err="1"/>
              <a:t>power_output</a:t>
            </a:r>
            <a:r>
              <a:rPr lang="en-GB" sz="1050" dirty="0"/>
              <a:t>, 0.5)").over(w)) \</a:t>
            </a:r>
          </a:p>
          <a:p>
            <a:r>
              <a:rPr lang="en-GB" sz="1050" dirty="0"/>
              <a:t>    .</a:t>
            </a:r>
            <a:r>
              <a:rPr lang="en-GB" sz="1050" dirty="0" err="1"/>
              <a:t>withColumn</a:t>
            </a:r>
            <a:r>
              <a:rPr lang="en-GB" sz="1050" dirty="0"/>
              <a:t>("power_output_clean",</a:t>
            </a:r>
            <a:r>
              <a:rPr lang="en-GB" sz="1050" dirty="0" err="1"/>
              <a:t>F.coalesce</a:t>
            </a:r>
            <a:r>
              <a:rPr lang="en-GB" sz="1050" dirty="0"/>
              <a:t>(</a:t>
            </a:r>
            <a:r>
              <a:rPr lang="en-GB" sz="1050" dirty="0" err="1"/>
              <a:t>F.col</a:t>
            </a:r>
            <a:r>
              <a:rPr lang="en-GB" sz="1050" dirty="0"/>
              <a:t>("</a:t>
            </a:r>
            <a:r>
              <a:rPr lang="en-GB" sz="1050" dirty="0" err="1"/>
              <a:t>power_output</a:t>
            </a:r>
            <a:r>
              <a:rPr lang="en-GB" sz="1050" dirty="0"/>
              <a:t>"), </a:t>
            </a:r>
            <a:r>
              <a:rPr lang="en-GB" sz="1050" dirty="0" err="1"/>
              <a:t>F.col</a:t>
            </a:r>
            <a:r>
              <a:rPr lang="en-GB" sz="1050" dirty="0"/>
              <a:t>("</a:t>
            </a:r>
            <a:r>
              <a:rPr lang="en-GB" sz="1050" dirty="0" err="1"/>
              <a:t>power_median</a:t>
            </a:r>
            <a:r>
              <a:rPr lang="en-GB" sz="1050" dirty="0"/>
              <a:t>"))) \</a:t>
            </a:r>
          </a:p>
          <a:p>
            <a:r>
              <a:rPr lang="en-GB" sz="1050" dirty="0"/>
              <a:t>        .</a:t>
            </a:r>
            <a:r>
              <a:rPr lang="en-GB" sz="1050" dirty="0" err="1"/>
              <a:t>withColumn</a:t>
            </a:r>
            <a:r>
              <a:rPr lang="en-GB" sz="1050" dirty="0"/>
              <a:t>("date", </a:t>
            </a:r>
            <a:r>
              <a:rPr lang="en-GB" sz="1050" dirty="0" err="1"/>
              <a:t>F.to_date</a:t>
            </a:r>
            <a:r>
              <a:rPr lang="en-GB" sz="1050" dirty="0"/>
              <a:t>("timestamp")))</a:t>
            </a:r>
          </a:p>
          <a:p>
            <a:pPr>
              <a:defRPr sz="1150">
                <a:solidFill>
                  <a:srgbClr val="22282E"/>
                </a:solidFill>
                <a:latin typeface="Consolas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498079" y="1325880"/>
            <a:ext cx="38862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79" y="1325880"/>
            <a:ext cx="73152" cy="1234440"/>
          </a:xfrm>
          <a:prstGeom prst="rect">
            <a:avLst/>
          </a:prstGeom>
          <a:solidFill>
            <a:srgbClr val="35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62671" y="1453895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Why PySpark?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1" y="1892807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The same transformations work when the data grows from thousands of rows to millions/billions without rewriting the business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788920"/>
            <a:ext cx="38862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2788920"/>
            <a:ext cx="73152" cy="1234440"/>
          </a:xfrm>
          <a:prstGeom prst="rect">
            <a:avLst/>
          </a:prstGeom>
          <a:solidFill>
            <a:srgbClr val="497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62671" y="2916936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Avoid Python loops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1" y="3355848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Use Spark SQL functions, window functions and groupBy aggregations so work is distributed.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251960"/>
            <a:ext cx="38862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98079" y="4251960"/>
            <a:ext cx="73152" cy="1234440"/>
          </a:xfrm>
          <a:prstGeom prst="rect">
            <a:avLst/>
          </a:prstGeom>
          <a:solidFill>
            <a:srgbClr val="C0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62671" y="4379976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Make functions pure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4818888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Pass DataFrames in and return DataFrames out. This makes unit tests and regression tests straightforward.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2282E"/>
                </a:solidFill>
              </a:defRPr>
            </a:pPr>
            <a:r>
              <a:t>• Note: percentile_approx is used for the POC median imputation. In production, the strategy should be validated with the sensor/engineering team.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475488"/>
            <a:ext cx="11750317" cy="610819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449"/>
                </a:solidFill>
              </a:rPr>
              <a:t>6. 24-hour turbine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6629400" cy="2880360"/>
          </a:xfrm>
          <a:prstGeom prst="roundRect">
            <a:avLst/>
          </a:prstGeom>
          <a:solidFill>
            <a:srgbClr val="F7F8F9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3168" y="1975104"/>
            <a:ext cx="5471465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/>
              <a:t>from </a:t>
            </a:r>
            <a:r>
              <a:rPr lang="en-GB" sz="1050" dirty="0" err="1"/>
              <a:t>pyspark.sql.functions</a:t>
            </a:r>
            <a:r>
              <a:rPr lang="en-GB" sz="1050" dirty="0"/>
              <a:t> import count, min, max, </a:t>
            </a:r>
            <a:r>
              <a:rPr lang="en-GB" sz="1050" dirty="0" err="1"/>
              <a:t>avg</a:t>
            </a:r>
            <a:r>
              <a:rPr lang="en-GB" sz="1050" dirty="0"/>
              <a:t>, </a:t>
            </a:r>
            <a:r>
              <a:rPr lang="en-GB" sz="1050" dirty="0" err="1"/>
              <a:t>stddev</a:t>
            </a:r>
            <a:endParaRPr lang="en-GB" sz="1050" dirty="0"/>
          </a:p>
          <a:p>
            <a:r>
              <a:rPr lang="en-GB" sz="1050" dirty="0" err="1"/>
              <a:t>daily_stats</a:t>
            </a:r>
            <a:r>
              <a:rPr lang="en-GB" sz="1050" dirty="0"/>
              <a:t> = (</a:t>
            </a:r>
            <a:r>
              <a:rPr lang="en-GB" sz="1050" dirty="0" err="1"/>
              <a:t>transformed.groupBy</a:t>
            </a:r>
            <a:r>
              <a:rPr lang="en-GB" sz="1050" dirty="0"/>
              <a:t>("date", "</a:t>
            </a:r>
            <a:r>
              <a:rPr lang="en-GB" sz="1050" dirty="0" err="1"/>
              <a:t>turbine_id</a:t>
            </a:r>
            <a:r>
              <a:rPr lang="en-GB" sz="1050" dirty="0"/>
              <a:t>").</a:t>
            </a:r>
            <a:r>
              <a:rPr lang="en-GB" sz="1050" dirty="0" err="1"/>
              <a:t>agg</a:t>
            </a:r>
            <a:r>
              <a:rPr lang="en-GB" sz="1050" dirty="0"/>
              <a:t>(</a:t>
            </a:r>
          </a:p>
          <a:p>
            <a:r>
              <a:rPr lang="en-GB" sz="1050" dirty="0"/>
              <a:t>min("</a:t>
            </a:r>
            <a:r>
              <a:rPr lang="en-GB" sz="1050" dirty="0" err="1"/>
              <a:t>power_output_clean</a:t>
            </a:r>
            <a:r>
              <a:rPr lang="en-GB" sz="1050" dirty="0"/>
              <a:t>").alias("</a:t>
            </a:r>
            <a:r>
              <a:rPr lang="en-GB" sz="1050" dirty="0" err="1"/>
              <a:t>min_power_mw</a:t>
            </a:r>
            <a:r>
              <a:rPr lang="en-GB" sz="1050" dirty="0"/>
              <a:t>"),</a:t>
            </a:r>
          </a:p>
          <a:p>
            <a:r>
              <a:rPr lang="en-GB" sz="1050" dirty="0"/>
              <a:t>max("</a:t>
            </a:r>
            <a:r>
              <a:rPr lang="en-GB" sz="1050" dirty="0" err="1"/>
              <a:t>power_output_clean</a:t>
            </a:r>
            <a:r>
              <a:rPr lang="en-GB" sz="1050" dirty="0"/>
              <a:t>").alias("</a:t>
            </a:r>
            <a:r>
              <a:rPr lang="en-GB" sz="1050" dirty="0" err="1"/>
              <a:t>max_power_mw</a:t>
            </a:r>
            <a:r>
              <a:rPr lang="en-GB" sz="1050" dirty="0"/>
              <a:t>"),</a:t>
            </a:r>
          </a:p>
          <a:p>
            <a:r>
              <a:rPr lang="en-GB" sz="1050" dirty="0" err="1"/>
              <a:t>avg</a:t>
            </a:r>
            <a:r>
              <a:rPr lang="en-GB" sz="1050" dirty="0"/>
              <a:t>("</a:t>
            </a:r>
            <a:r>
              <a:rPr lang="en-GB" sz="1050" dirty="0" err="1"/>
              <a:t>power_output_clean</a:t>
            </a:r>
            <a:r>
              <a:rPr lang="en-GB" sz="1050" dirty="0"/>
              <a:t>").alias("</a:t>
            </a:r>
            <a:r>
              <a:rPr lang="en-GB" sz="1050" dirty="0" err="1"/>
              <a:t>avg_power_mw</a:t>
            </a:r>
            <a:r>
              <a:rPr lang="en-GB" sz="1050" dirty="0"/>
              <a:t>"),</a:t>
            </a:r>
          </a:p>
          <a:p>
            <a:r>
              <a:rPr lang="en-GB" sz="1050" dirty="0" err="1"/>
              <a:t>stddev</a:t>
            </a:r>
            <a:r>
              <a:rPr lang="en-GB" sz="1050" dirty="0"/>
              <a:t>("</a:t>
            </a:r>
            <a:r>
              <a:rPr lang="en-GB" sz="1050" dirty="0" err="1"/>
              <a:t>power_output_clean</a:t>
            </a:r>
            <a:r>
              <a:rPr lang="en-GB" sz="1050" dirty="0"/>
              <a:t>").alias("</a:t>
            </a:r>
            <a:r>
              <a:rPr lang="en-GB" sz="1050" dirty="0" err="1"/>
              <a:t>std_power_mw</a:t>
            </a:r>
            <a:r>
              <a:rPr lang="en-GB" sz="1050" dirty="0"/>
              <a:t>"),</a:t>
            </a:r>
          </a:p>
          <a:p>
            <a:r>
              <a:rPr lang="en-GB" sz="1050" dirty="0"/>
              <a:t>count("*").alias("</a:t>
            </a:r>
            <a:r>
              <a:rPr lang="en-GB" sz="1050" dirty="0" err="1"/>
              <a:t>reading_count</a:t>
            </a:r>
            <a:r>
              <a:rPr lang="en-GB" sz="1050" dirty="0"/>
              <a:t>")</a:t>
            </a:r>
          </a:p>
          <a:p>
            <a:r>
              <a:rPr lang="en-GB" sz="1050" dirty="0"/>
              <a:t>))</a:t>
            </a:r>
          </a:p>
          <a:p>
            <a:pPr>
              <a:defRPr sz="1130">
                <a:solidFill>
                  <a:srgbClr val="22282E"/>
                </a:solidFill>
                <a:latin typeface="Consolas"/>
              </a:defRPr>
            </a:pPr>
            <a:endParaRPr sz="1050" dirty="0"/>
          </a:p>
        </p:txBody>
      </p:sp>
      <p:sp>
        <p:nvSpPr>
          <p:cNvPr id="7" name="Rounded Rectangle 6"/>
          <p:cNvSpPr/>
          <p:nvPr/>
        </p:nvSpPr>
        <p:spPr>
          <a:xfrm>
            <a:off x="7452360" y="1325880"/>
            <a:ext cx="38862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52360" y="1325880"/>
            <a:ext cx="73152" cy="1234440"/>
          </a:xfrm>
          <a:prstGeom prst="rect">
            <a:avLst/>
          </a:prstGeom>
          <a:solidFill>
            <a:srgbClr val="35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16952" y="1453895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Grain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92807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One row per turbine per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788920"/>
            <a:ext cx="38862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52360" y="2788920"/>
            <a:ext cx="73152" cy="1234440"/>
          </a:xfrm>
          <a:prstGeom prst="rect">
            <a:avLst/>
          </a:prstGeom>
          <a:solidFill>
            <a:srgbClr val="497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16952" y="2916936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Required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355848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Minimum, maximum and average power output over the 24-hour period.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4251960"/>
            <a:ext cx="38862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52360" y="4251960"/>
            <a:ext cx="73152" cy="1234440"/>
          </a:xfrm>
          <a:prstGeom prst="rect">
            <a:avLst/>
          </a:prstGeom>
          <a:solidFill>
            <a:srgbClr val="C0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16952" y="4379976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Useful extra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4818888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Standard deviation and reading_count support anomaly logic and data-quality monitoring.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2282E"/>
                </a:solidFill>
              </a:defRPr>
            </a:pPr>
            <a:r>
              <a:t>• Expected hourly cadence: 24 readings per turbine per day. Lower counts are retained as a data-quality signal rather than silently filled.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7855" y="101600"/>
            <a:ext cx="11776363" cy="663170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F3449"/>
                </a:solidFill>
              </a:rPr>
              <a:t>7. Anomaly detection — simple, explainable 2σ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99064" cy="193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t>• Define expected daily output using the fleet distribution for the same day.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t>• For each turbine-day, compare its average power output with fleet mean ± 2 × fleet standard deviation.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t>• Flag an anomaly when avg_power_mw &lt; lower_bound OR avg_power_mw &gt; upper_bound.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t>• Keep the raw average, mean, standard deviation, bounds and flag — this makes the decision explainable.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t>• Important: 2σ is a POC rule. In production, expected output should ideally account for wind speed, turbine model, operating state and maintenance periods.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82696"/>
            <a:ext cx="9948672" cy="2660904"/>
          </a:xfrm>
          <a:prstGeom prst="roundRect">
            <a:avLst/>
          </a:prstGeom>
          <a:solidFill>
            <a:srgbClr val="F7F8F9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27632" y="3758184"/>
            <a:ext cx="850392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/>
              <a:t>fleet = </a:t>
            </a:r>
            <a:r>
              <a:rPr lang="en-GB" sz="1050" dirty="0" err="1"/>
              <a:t>daily_stats.groupBy</a:t>
            </a:r>
            <a:r>
              <a:rPr lang="en-GB" sz="1050" dirty="0"/>
              <a:t>("date").</a:t>
            </a:r>
            <a:r>
              <a:rPr lang="en-GB" sz="1050" dirty="0" err="1"/>
              <a:t>agg</a:t>
            </a:r>
            <a:r>
              <a:rPr lang="en-GB" sz="1050" dirty="0"/>
              <a:t>(</a:t>
            </a:r>
            <a:r>
              <a:rPr lang="en-GB" sz="1050" dirty="0" err="1"/>
              <a:t>F.avg</a:t>
            </a:r>
            <a:r>
              <a:rPr lang="en-GB" sz="1050" dirty="0"/>
              <a:t>("</a:t>
            </a:r>
            <a:r>
              <a:rPr lang="en-GB" sz="1050" dirty="0" err="1"/>
              <a:t>avg_power_mw</a:t>
            </a:r>
            <a:r>
              <a:rPr lang="en-GB" sz="1050" dirty="0"/>
              <a:t>").alias("</a:t>
            </a:r>
            <a:r>
              <a:rPr lang="en-GB" sz="1050" dirty="0" err="1"/>
              <a:t>fleet_mean</a:t>
            </a:r>
            <a:r>
              <a:rPr lang="en-GB" sz="1050" dirty="0"/>
              <a:t>"),</a:t>
            </a:r>
            <a:r>
              <a:rPr lang="en-GB" sz="1050" dirty="0" err="1"/>
              <a:t>F.stddev</a:t>
            </a:r>
            <a:r>
              <a:rPr lang="en-GB" sz="1050" dirty="0"/>
              <a:t>("</a:t>
            </a:r>
            <a:r>
              <a:rPr lang="en-GB" sz="1050" dirty="0" err="1"/>
              <a:t>avg_power_mw</a:t>
            </a:r>
            <a:r>
              <a:rPr lang="en-GB" sz="1050" dirty="0"/>
              <a:t>").alias("</a:t>
            </a:r>
            <a:r>
              <a:rPr lang="en-GB" sz="1050" dirty="0" err="1"/>
              <a:t>fleet_std</a:t>
            </a:r>
            <a:r>
              <a:rPr lang="en-GB" sz="1050" dirty="0"/>
              <a:t>"))</a:t>
            </a:r>
          </a:p>
          <a:p>
            <a:endParaRPr lang="en-GB" sz="1050" dirty="0"/>
          </a:p>
          <a:p>
            <a:r>
              <a:rPr lang="en-GB" sz="1050" dirty="0"/>
              <a:t>result = (</a:t>
            </a:r>
            <a:r>
              <a:rPr lang="en-GB" sz="1050" dirty="0" err="1"/>
              <a:t>daily_stats.join</a:t>
            </a:r>
            <a:r>
              <a:rPr lang="en-GB" sz="1050" dirty="0"/>
              <a:t>(fleet, "date").</a:t>
            </a:r>
            <a:r>
              <a:rPr lang="en-GB" sz="1050" dirty="0" err="1"/>
              <a:t>withColumn</a:t>
            </a:r>
            <a:r>
              <a:rPr lang="en-GB" sz="1050" dirty="0"/>
              <a:t>("lower", </a:t>
            </a:r>
            <a:r>
              <a:rPr lang="en-GB" sz="1050" dirty="0" err="1"/>
              <a:t>F.col</a:t>
            </a:r>
            <a:r>
              <a:rPr lang="en-GB" sz="1050" dirty="0"/>
              <a:t>("</a:t>
            </a:r>
            <a:r>
              <a:rPr lang="en-GB" sz="1050" dirty="0" err="1"/>
              <a:t>fleet_mean</a:t>
            </a:r>
            <a:r>
              <a:rPr lang="en-GB" sz="1050" dirty="0"/>
              <a:t>") - 2*</a:t>
            </a:r>
            <a:r>
              <a:rPr lang="en-GB" sz="1050" dirty="0" err="1"/>
              <a:t>F.col</a:t>
            </a:r>
            <a:r>
              <a:rPr lang="en-GB" sz="1050" dirty="0"/>
              <a:t>("</a:t>
            </a:r>
            <a:r>
              <a:rPr lang="en-GB" sz="1050" dirty="0" err="1"/>
              <a:t>fleet_std</a:t>
            </a:r>
            <a:r>
              <a:rPr lang="en-GB" sz="1050" dirty="0"/>
              <a:t>")).</a:t>
            </a:r>
            <a:r>
              <a:rPr lang="en-GB" sz="1050" dirty="0" err="1"/>
              <a:t>withColumn</a:t>
            </a:r>
            <a:r>
              <a:rPr lang="en-GB" sz="1050" dirty="0"/>
              <a:t>("upper", </a:t>
            </a:r>
            <a:r>
              <a:rPr lang="en-GB" sz="1050" dirty="0" err="1"/>
              <a:t>F.col</a:t>
            </a:r>
            <a:r>
              <a:rPr lang="en-GB" sz="1050" dirty="0"/>
              <a:t>("</a:t>
            </a:r>
            <a:r>
              <a:rPr lang="en-GB" sz="1050" dirty="0" err="1"/>
              <a:t>fleet_mean</a:t>
            </a:r>
            <a:r>
              <a:rPr lang="en-GB" sz="1050" dirty="0"/>
              <a:t>") + 2*</a:t>
            </a:r>
            <a:r>
              <a:rPr lang="en-GB" sz="1050" dirty="0" err="1"/>
              <a:t>F.col</a:t>
            </a:r>
            <a:r>
              <a:rPr lang="en-GB" sz="1050" dirty="0"/>
              <a:t>("</a:t>
            </a:r>
            <a:r>
              <a:rPr lang="en-GB" sz="1050" dirty="0" err="1"/>
              <a:t>fleet_std</a:t>
            </a:r>
            <a:r>
              <a:rPr lang="en-GB" sz="1050" dirty="0"/>
              <a:t>")).</a:t>
            </a:r>
            <a:r>
              <a:rPr lang="en-GB" sz="1050" dirty="0" err="1"/>
              <a:t>withColumn</a:t>
            </a:r>
            <a:r>
              <a:rPr lang="en-GB" sz="1050" dirty="0"/>
              <a:t>("</a:t>
            </a:r>
            <a:r>
              <a:rPr lang="en-GB" sz="1050" dirty="0" err="1"/>
              <a:t>is_anomaly</a:t>
            </a:r>
            <a:r>
              <a:rPr lang="en-GB" sz="1050" dirty="0"/>
              <a:t>",(</a:t>
            </a:r>
            <a:r>
              <a:rPr lang="en-GB" sz="1050" dirty="0" err="1"/>
              <a:t>F.col</a:t>
            </a:r>
            <a:r>
              <a:rPr lang="en-GB" sz="1050" dirty="0"/>
              <a:t>("</a:t>
            </a:r>
            <a:r>
              <a:rPr lang="en-GB" sz="1050" dirty="0" err="1"/>
              <a:t>avg_power_mw</a:t>
            </a:r>
            <a:r>
              <a:rPr lang="en-GB" sz="1050" dirty="0"/>
              <a:t>") &lt; </a:t>
            </a:r>
            <a:r>
              <a:rPr lang="en-GB" sz="1050" dirty="0" err="1"/>
              <a:t>F.col</a:t>
            </a:r>
            <a:r>
              <a:rPr lang="en-GB" sz="1050" dirty="0"/>
              <a:t>("lower")) |(</a:t>
            </a:r>
            <a:r>
              <a:rPr lang="en-GB" sz="1050" dirty="0" err="1"/>
              <a:t>F.col</a:t>
            </a:r>
            <a:r>
              <a:rPr lang="en-GB" sz="1050" dirty="0"/>
              <a:t>("</a:t>
            </a:r>
            <a:r>
              <a:rPr lang="en-GB" sz="1050" dirty="0" err="1"/>
              <a:t>avg_power_mw</a:t>
            </a:r>
            <a:r>
              <a:rPr lang="en-GB" sz="1050" dirty="0"/>
              <a:t>") &gt; </a:t>
            </a:r>
            <a:r>
              <a:rPr lang="en-GB" sz="1050" dirty="0" err="1"/>
              <a:t>F.col</a:t>
            </a:r>
            <a:r>
              <a:rPr lang="en-GB" sz="1050" dirty="0"/>
              <a:t>("upper"))))</a:t>
            </a:r>
          </a:p>
          <a:p>
            <a:pPr>
              <a:defRPr sz="1030">
                <a:solidFill>
                  <a:srgbClr val="22282E"/>
                </a:solidFill>
                <a:latin typeface="Consolas"/>
              </a:defRPr>
            </a:pPr>
            <a:endParaRPr lang="en-GB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1745" y="193964"/>
            <a:ext cx="11665528" cy="638971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449"/>
                </a:solidFill>
              </a:rPr>
              <a:t>8. What I would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383280" cy="182880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1828800"/>
          </a:xfrm>
          <a:prstGeom prst="rect">
            <a:avLst/>
          </a:prstGeom>
          <a:solidFill>
            <a:srgbClr val="497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0817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silver_turbine_readings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4708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timestamp</a:t>
            </a:r>
            <a:br/>
            <a:r>
              <a:t>turbine_id</a:t>
            </a:r>
            <a:br/>
            <a:r>
              <a:t>wind_speed</a:t>
            </a:r>
            <a:br/>
            <a:r>
              <a:t>wind_direction</a:t>
            </a:r>
            <a:br/>
            <a:r>
              <a:t>power_output_clean</a:t>
            </a:r>
            <a:br/>
            <a:r>
              <a:t>dq flags + ingestion metadata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182880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73152" cy="1828800"/>
          </a:xfrm>
          <a:prstGeom prst="rect">
            <a:avLst/>
          </a:prstGeom>
          <a:solidFill>
            <a:srgbClr val="35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40817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gold_turbine_daily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4708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date</a:t>
            </a:r>
            <a:br/>
            <a:r>
              <a:t>turbine_id</a:t>
            </a:r>
            <a:br/>
            <a:r>
              <a:t>min_power_mw</a:t>
            </a:r>
            <a:br/>
            <a:r>
              <a:t>max_power_mw</a:t>
            </a:r>
            <a:br/>
            <a:r>
              <a:t>avg_power_mw</a:t>
            </a:r>
            <a:br/>
            <a:r>
              <a:t>std_power_mw</a:t>
            </a:r>
            <a:br/>
            <a:r>
              <a:t>reading_count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383280" cy="182880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73152" cy="1828800"/>
          </a:xfrm>
          <a:prstGeom prst="rect">
            <a:avLst/>
          </a:prstGeom>
          <a:solidFill>
            <a:srgbClr val="C0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40817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gold_turbine_anomalies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4708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date</a:t>
            </a:r>
            <a:br/>
            <a:r>
              <a:t>turbine_id</a:t>
            </a:r>
            <a:br/>
            <a:r>
              <a:t>fleet_mean</a:t>
            </a:r>
            <a:br/>
            <a:r>
              <a:t>fleet_std</a:t>
            </a:r>
            <a:br/>
            <a:r>
              <a:t>lower / upper bounds</a:t>
            </a:r>
            <a:br/>
            <a:r>
              <a:t>is_anomaly</a:t>
            </a:r>
            <a:br/>
            <a:r>
              <a:t>reason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794760"/>
            <a:ext cx="10332720" cy="1554480"/>
          </a:xfrm>
          <a:prstGeom prst="roundRect">
            <a:avLst/>
          </a:prstGeom>
          <a:solidFill>
            <a:srgbClr val="F7F8F9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886201"/>
            <a:ext cx="9537192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 err="1"/>
              <a:t>daily_stats.write.format</a:t>
            </a:r>
            <a:r>
              <a:rPr lang="en-GB" sz="1050" dirty="0"/>
              <a:t>("delta") \</a:t>
            </a:r>
          </a:p>
          <a:p>
            <a:r>
              <a:rPr lang="en-GB" sz="1050" dirty="0"/>
              <a:t>    .mode("append") \</a:t>
            </a:r>
          </a:p>
          <a:p>
            <a:r>
              <a:rPr lang="en-GB" sz="1050" dirty="0"/>
              <a:t>        .</a:t>
            </a:r>
            <a:r>
              <a:rPr lang="en-GB" sz="1050" dirty="0" err="1"/>
              <a:t>partitionBy</a:t>
            </a:r>
            <a:r>
              <a:rPr lang="en-GB" sz="1050" dirty="0"/>
              <a:t>("date") \</a:t>
            </a:r>
          </a:p>
          <a:p>
            <a:r>
              <a:rPr lang="en-GB" sz="1050" dirty="0"/>
              <a:t>            .</a:t>
            </a:r>
            <a:r>
              <a:rPr lang="en-GB" sz="1050" dirty="0" err="1"/>
              <a:t>saveAsTable</a:t>
            </a:r>
            <a:r>
              <a:rPr lang="en-GB" sz="1050" dirty="0"/>
              <a:t>("</a:t>
            </a:r>
            <a:r>
              <a:rPr lang="en-GB" sz="1050" dirty="0" err="1"/>
              <a:t>workspace.default.turbine_daily_stats</a:t>
            </a:r>
            <a:r>
              <a:rPr lang="en-GB" sz="1050" dirty="0"/>
              <a:t>")</a:t>
            </a:r>
          </a:p>
          <a:p>
            <a:br>
              <a:rPr sz="1050" dirty="0"/>
            </a:br>
            <a:br>
              <a:rPr sz="1050" dirty="0"/>
            </a:br>
            <a:r>
              <a:rPr lang="en-GB" sz="1050" dirty="0"/>
              <a:t># Use MERGE if daily files can be re-delivered</a:t>
            </a:r>
          </a:p>
          <a:p>
            <a:r>
              <a:rPr lang="en-GB" sz="1050" dirty="0"/>
              <a:t># # so the same turbine/date is idempotent.</a:t>
            </a:r>
          </a:p>
          <a:p>
            <a:pPr>
              <a:defRPr sz="1120">
                <a:solidFill>
                  <a:srgbClr val="22282E"/>
                </a:solidFill>
                <a:latin typeface="Consolas"/>
              </a:defRPr>
            </a:pPr>
            <a:endParaRPr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7855" y="138545"/>
            <a:ext cx="11730181" cy="6604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449"/>
                </a:solidFill>
              </a:rPr>
              <a:t>9. Testing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383280" cy="150876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1508760"/>
          </a:xfrm>
          <a:prstGeom prst="rect">
            <a:avLst/>
          </a:prstGeom>
          <a:solidFill>
            <a:srgbClr val="35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0817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Unit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47088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Test cleansing functions with nulls, bad ranges, duplicates and outliers.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150876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73152" cy="1508760"/>
          </a:xfrm>
          <a:prstGeom prst="rect">
            <a:avLst/>
          </a:prstGeom>
          <a:solidFill>
            <a:srgbClr val="497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40817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Transformation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47088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Known input → known daily min/max/average and anomaly flag.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383280" cy="150876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73152" cy="1508760"/>
          </a:xfrm>
          <a:prstGeom prst="rect">
            <a:avLst/>
          </a:prstGeom>
          <a:solidFill>
            <a:srgbClr val="C0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40817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Data-quality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47088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Schema, uniqueness, expected cadence and valid turbine IDs.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2282E"/>
                </a:solidFill>
              </a:defRPr>
            </a:pPr>
            <a:r>
              <a:t>• Test data supplied with the POC is valuable because we can deliberately inject missing values and an extreme power value to prove the cleansing/anomaly paths.</a:t>
            </a:r>
          </a:p>
          <a:p>
            <a:pPr>
              <a:spcAft>
                <a:spcPts val="800"/>
              </a:spcAft>
              <a:defRPr sz="1350">
                <a:solidFill>
                  <a:srgbClr val="22282E"/>
                </a:solidFill>
              </a:defRPr>
            </a:pPr>
            <a:r>
              <a:t>• CI can run these tests on every pull request before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6327" y="138545"/>
            <a:ext cx="11693237" cy="665018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449"/>
                </a:solidFill>
              </a:rPr>
              <a:t>10. Scalability and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72" y="1234440"/>
            <a:ext cx="10486967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rPr dirty="0"/>
              <a:t>• Distributed processing: all heavy transformations use Spark </a:t>
            </a:r>
            <a:r>
              <a:rPr dirty="0" err="1"/>
              <a:t>DataFrame</a:t>
            </a:r>
            <a:r>
              <a:rPr dirty="0"/>
              <a:t> APIs rather than collecting data to the driver.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rPr dirty="0"/>
              <a:t>• Incremental processing: process only newly landed files/partitions; avoid recomputing the entire month.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rPr dirty="0"/>
              <a:t>• Partitioning: partition analytical tables by date because most operational queries are time-based.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rPr dirty="0"/>
              <a:t>• File sizing: compact many small CSV/Delta files; avoid creating thousands of tiny output files.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rPr dirty="0"/>
              <a:t>• Schema control: use an explicit schema and quarantine malformed records.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rPr dirty="0"/>
              <a:t>• Idempotency: use MERGE or deterministic keys such as (date, </a:t>
            </a:r>
            <a:r>
              <a:rPr dirty="0" err="1"/>
              <a:t>turbine_id</a:t>
            </a:r>
            <a:r>
              <a:rPr dirty="0"/>
              <a:t>) so rerunning a day does not duplicate results.</a:t>
            </a:r>
          </a:p>
          <a:p>
            <a:pPr>
              <a:spcAft>
                <a:spcPts val="800"/>
              </a:spcAft>
              <a:defRPr sz="1550">
                <a:solidFill>
                  <a:srgbClr val="22282E"/>
                </a:solidFill>
              </a:defRPr>
            </a:pPr>
            <a:r>
              <a:rPr dirty="0"/>
              <a:t>• Observability: capture row counts, rejected rows, missing readings, processing duration and anomaly 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5074920"/>
            <a:ext cx="3474720" cy="137160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5074920"/>
            <a:ext cx="73152" cy="822960"/>
          </a:xfrm>
          <a:prstGeom prst="rect">
            <a:avLst/>
          </a:prstGeom>
          <a:solidFill>
            <a:srgbClr val="497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91271" y="5202936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1F3449"/>
                </a:solidFill>
              </a:rPr>
              <a:t>Scaling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1271" y="5641848"/>
            <a:ext cx="3200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2282E"/>
                </a:solidFill>
              </a:defRPr>
            </a:pPr>
            <a:r>
              <a:rPr dirty="0"/>
              <a:t>Scale data processing, not Python driver memory.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9383" y="274321"/>
            <a:ext cx="11720944" cy="630936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449"/>
                </a:solidFill>
              </a:rPr>
              <a:t>11. Productionising the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80">
                <a:solidFill>
                  <a:srgbClr val="22282E"/>
                </a:solidFill>
              </a:defRPr>
            </a:pPr>
            <a:r>
              <a:t>• Landing: object storage receives daily CSVs; enforce naming conventions and retain immutable raw files.</a:t>
            </a:r>
          </a:p>
          <a:p>
            <a:pPr>
              <a:spcAft>
                <a:spcPts val="800"/>
              </a:spcAft>
              <a:defRPr sz="1480">
                <a:solidFill>
                  <a:srgbClr val="22282E"/>
                </a:solidFill>
              </a:defRPr>
            </a:pPr>
            <a:r>
              <a:t>• Orchestration: schedule with ADF / Databricks Workflows; parameterise environment, input path and processing date.</a:t>
            </a:r>
          </a:p>
          <a:p>
            <a:pPr>
              <a:spcAft>
                <a:spcPts val="800"/>
              </a:spcAft>
              <a:defRPr sz="1480">
                <a:solidFill>
                  <a:srgbClr val="22282E"/>
                </a:solidFill>
              </a:defRPr>
            </a:pPr>
            <a:r>
              <a:t>• Storage: Delta tables with Bronze/Silver/Gold layers, schema enforcement and ACID transactions.</a:t>
            </a:r>
          </a:p>
          <a:p>
            <a:pPr>
              <a:spcAft>
                <a:spcPts val="800"/>
              </a:spcAft>
              <a:defRPr sz="1480">
                <a:solidFill>
                  <a:srgbClr val="22282E"/>
                </a:solidFill>
              </a:defRPr>
            </a:pPr>
            <a:r>
              <a:t>• Governance: Unity Catalog permissions, lineage, data ownership and controlled service identities.</a:t>
            </a:r>
          </a:p>
          <a:p>
            <a:pPr>
              <a:spcAft>
                <a:spcPts val="800"/>
              </a:spcAft>
              <a:defRPr sz="1480">
                <a:solidFill>
                  <a:srgbClr val="22282E"/>
                </a:solidFill>
              </a:defRPr>
            </a:pPr>
            <a:r>
              <a:t>• Monitoring: Azure Monitor / Log Analytics or platform-native job monitoring; alert on failed files, missing readings and anomaly spikes.</a:t>
            </a:r>
          </a:p>
          <a:p>
            <a:pPr>
              <a:spcAft>
                <a:spcPts val="800"/>
              </a:spcAft>
              <a:defRPr sz="1480">
                <a:solidFill>
                  <a:srgbClr val="22282E"/>
                </a:solidFill>
              </a:defRPr>
            </a:pPr>
            <a:r>
              <a:t>• CI/CD: Git + Azure DevOps; unit tests → build → deploy notebooks/jobs/configuration across dev/test/prod.</a:t>
            </a:r>
          </a:p>
          <a:p>
            <a:pPr>
              <a:spcAft>
                <a:spcPts val="800"/>
              </a:spcAft>
              <a:defRPr sz="1480">
                <a:solidFill>
                  <a:srgbClr val="22282E"/>
                </a:solidFill>
              </a:defRPr>
            </a:pPr>
            <a:r>
              <a:t>• Future anomaly model: move from simple 2σ to expected power curves using wind speed, direction, turbine model and maintenance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4983480"/>
            <a:ext cx="356616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4983480"/>
            <a:ext cx="73152" cy="914400"/>
          </a:xfrm>
          <a:prstGeom prst="rect">
            <a:avLst/>
          </a:prstGeom>
          <a:solidFill>
            <a:srgbClr val="C0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91271" y="511149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Production question to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1271" y="555040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2282E"/>
                </a:solidFill>
              </a:defRPr>
            </a:pPr>
            <a:r>
              <a:t>What is the engineering definition of 'expected output' for each turbine?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2436" y="120073"/>
            <a:ext cx="11841019" cy="6604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449"/>
                </a:solidFill>
              </a:rPr>
              <a:t>12. Demonstration results from the supplied valid 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51460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143000"/>
          </a:xfrm>
          <a:prstGeom prst="rect">
            <a:avLst/>
          </a:prstGeom>
          <a:solidFill>
            <a:srgbClr val="35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362456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0136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82E"/>
                </a:solidFill>
              </a:defRPr>
            </a:pPr>
            <a:r>
              <a:t>3,720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34440"/>
            <a:ext cx="251460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1234440"/>
            <a:ext cx="73152" cy="1143000"/>
          </a:xfrm>
          <a:prstGeom prst="rect">
            <a:avLst/>
          </a:prstGeom>
          <a:solidFill>
            <a:srgbClr val="497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3592" y="1362456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Turbines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80136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82E"/>
                </a:solidFill>
              </a:defRPr>
            </a:pPr>
            <a:r>
              <a:t>11–15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251460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73152" cy="1143000"/>
          </a:xfrm>
          <a:prstGeom prst="rect">
            <a:avLst/>
          </a:prstGeom>
          <a:solidFill>
            <a:srgbClr val="C0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362456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80136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82E"/>
                </a:solidFill>
              </a:defRPr>
            </a:pPr>
            <a:r>
              <a:t>31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234440"/>
            <a:ext cx="251460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06840" y="1234440"/>
            <a:ext cx="73152" cy="1143000"/>
          </a:xfrm>
          <a:prstGeom prst="rect">
            <a:avLst/>
          </a:prstGeom>
          <a:solidFill>
            <a:srgbClr val="35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71432" y="1362456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Cadence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180136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82E"/>
                </a:solidFill>
              </a:defRPr>
            </a:pPr>
            <a:r>
              <a:t>Hourly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85800" y="2743200"/>
          <a:ext cx="6400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Turbine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Min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Max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Avg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Readings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2.74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rPr dirty="0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3.03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2.98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t>3.37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82E"/>
                          </a:solidFill>
                        </a:defRPr>
                      </a:pPr>
                      <a:r>
                        <a:rPr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360920" y="2743200"/>
            <a:ext cx="4069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22282E"/>
                </a:solidFill>
              </a:defRPr>
            </a:pPr>
            <a:r>
              <a:t>• The supplied valid group contains complete hourly coverage: 744 readings per turbine across 31 days.</a:t>
            </a:r>
          </a:p>
          <a:p>
            <a:pPr>
              <a:spcAft>
                <a:spcPts val="800"/>
              </a:spcAft>
              <a:defRPr sz="1320">
                <a:solidFill>
                  <a:srgbClr val="22282E"/>
                </a:solidFill>
              </a:defRPr>
            </a:pPr>
            <a:r>
              <a:t>• No native missing values/outliers are present in this file, so I would use controlled test injections to demonstrate the required failure paths.</a:t>
            </a:r>
          </a:p>
          <a:p>
            <a:pPr>
              <a:spcAft>
                <a:spcPts val="800"/>
              </a:spcAft>
              <a:defRPr sz="1320">
                <a:solidFill>
                  <a:srgbClr val="22282E"/>
                </a:solidFill>
              </a:defRPr>
            </a:pPr>
            <a:r>
              <a:t>• Example test injection: null power/wind values + an extreme 25 MW reading; verify quality flags and anomaly handling.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0982" y="110836"/>
            <a:ext cx="11665527" cy="6604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449"/>
                </a:solidFill>
              </a:rPr>
              <a:t>13. End-to-end code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166360" cy="4023360"/>
          </a:xfrm>
          <a:prstGeom prst="roundRect">
            <a:avLst/>
          </a:prstGeom>
          <a:solidFill>
            <a:srgbClr val="F7F8F9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1" y="1417320"/>
            <a:ext cx="5029199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82E"/>
                </a:solidFill>
                <a:latin typeface="Consolas"/>
              </a:defRPr>
            </a:pPr>
            <a:r>
              <a:rPr lang="en-GB" dirty="0" err="1"/>
              <a:t>src</a:t>
            </a:r>
            <a:r>
              <a:rPr lang="en-GB" dirty="0"/>
              <a:t>/</a:t>
            </a:r>
            <a:br>
              <a:rPr lang="en-GB" dirty="0"/>
            </a:br>
            <a:r>
              <a:rPr lang="en-GB" dirty="0"/>
              <a:t>  ingestion.py        # discover + read CSVs</a:t>
            </a:r>
            <a:br>
              <a:rPr lang="en-GB" dirty="0"/>
            </a:br>
            <a:r>
              <a:rPr lang="en-GB" dirty="0"/>
              <a:t>  quality.py          # schema, ranges, missing data, dedupe</a:t>
            </a:r>
            <a:br>
              <a:rPr lang="en-GB" dirty="0"/>
            </a:br>
            <a:r>
              <a:rPr lang="en-GB" dirty="0"/>
              <a:t>  transform.py        # daily summaries</a:t>
            </a:r>
            <a:br>
              <a:rPr lang="en-GB" dirty="0"/>
            </a:br>
            <a:r>
              <a:rPr lang="en-GB" dirty="0"/>
              <a:t>  anomaly.py          #</a:t>
            </a:r>
            <a:br>
              <a:rPr lang="en-GB" dirty="0"/>
            </a:br>
            <a:r>
              <a:rPr lang="en-GB" dirty="0"/>
              <a:t>  storage.py          # Delta/database writes</a:t>
            </a:r>
            <a:br>
              <a:rPr lang="en-GB" dirty="0"/>
            </a:br>
            <a:r>
              <a:rPr lang="en-GB" dirty="0"/>
              <a:t>tests/</a:t>
            </a:r>
            <a:br>
              <a:rPr lang="en-GB" dirty="0"/>
            </a:br>
            <a:r>
              <a:rPr lang="en-GB" dirty="0"/>
              <a:t>  test_quality.py</a:t>
            </a:r>
            <a:br>
              <a:rPr lang="en-GB" dirty="0"/>
            </a:br>
            <a:r>
              <a:rPr lang="en-GB" dirty="0"/>
              <a:t>  test_transform.py</a:t>
            </a:r>
            <a:br>
              <a:rPr lang="en-GB" dirty="0"/>
            </a:br>
            <a:r>
              <a:rPr lang="en-GB" dirty="0"/>
              <a:t>  test_anomaly.py</a:t>
            </a:r>
            <a:br>
              <a:rPr lang="en-GB" dirty="0"/>
            </a:br>
            <a:r>
              <a:rPr lang="en-GB" dirty="0"/>
              <a:t>jobs/</a:t>
            </a:r>
            <a:br>
              <a:rPr lang="en-GB" dirty="0"/>
            </a:br>
            <a:r>
              <a:rPr lang="en-GB" dirty="0"/>
              <a:t>  daily_pipeline.py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48006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1325880"/>
            <a:ext cx="73152" cy="1234440"/>
          </a:xfrm>
          <a:prstGeom prst="rect">
            <a:avLst/>
          </a:prstGeom>
          <a:solidFill>
            <a:srgbClr val="35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65392" y="1453895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Separation of concerns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892807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rPr dirty="0"/>
              <a:t>Each module has one job. This keeps the business logic readable and makes failures easier to isolate.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88920"/>
            <a:ext cx="48006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2788920"/>
            <a:ext cx="73152" cy="1234440"/>
          </a:xfrm>
          <a:prstGeom prst="rect">
            <a:avLst/>
          </a:prstGeom>
          <a:solidFill>
            <a:srgbClr val="497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2916936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Configuration-driven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355848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Paths, thresholds, expected cadence and environment are configuration, not hard-coded business logic.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251960"/>
            <a:ext cx="48006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4251960"/>
            <a:ext cx="73152" cy="1234440"/>
          </a:xfrm>
          <a:prstGeom prst="rect">
            <a:avLst/>
          </a:prstGeom>
          <a:solidFill>
            <a:srgbClr val="C0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5392" y="4379976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Interview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818888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82E"/>
                </a:solidFill>
              </a:defRPr>
            </a:pPr>
            <a:r>
              <a:t>The code is intentionally small: the value is in correctness, testability, observability and a clear path to production.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1673" y="240144"/>
            <a:ext cx="11804072" cy="640080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14. Closing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37560" cy="182880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1828800"/>
          </a:xfrm>
          <a:prstGeom prst="rect">
            <a:avLst/>
          </a:prstGeom>
          <a:solidFill>
            <a:srgbClr val="497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95681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Reliable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95728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82E"/>
                </a:solidFill>
              </a:defRPr>
            </a:pPr>
            <a:r>
              <a:t>Explicit schema, data-quality checks, missing/outlier handling and idempotent writes.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37560" cy="182880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828800"/>
            <a:ext cx="73152" cy="1828800"/>
          </a:xfrm>
          <a:prstGeom prst="rect">
            <a:avLst/>
          </a:prstGeom>
          <a:solidFill>
            <a:srgbClr val="35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95681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Scalable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395728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82E"/>
                </a:solidFill>
              </a:defRPr>
            </a:pPr>
            <a:r>
              <a:t>PySpark transformations, incremental processing and partitioned analytical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337560" cy="1828800"/>
          </a:xfrm>
          <a:prstGeom prst="round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73152" cy="1828800"/>
          </a:xfrm>
          <a:prstGeom prst="rect">
            <a:avLst/>
          </a:prstGeom>
          <a:solidFill>
            <a:srgbClr val="C0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195681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449"/>
                </a:solidFill>
              </a:rPr>
              <a:t>Explainable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395728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82E"/>
                </a:solidFill>
              </a:defRPr>
            </a:pPr>
            <a:r>
              <a:t>Simple 2σ anomaly rule now; richer turbine-specific expected-output model later.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The POC proves the core functionality while keeping the implementation small enough to test and discuss.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DCE6EE"/>
                </a:solidFill>
              </a:rPr>
              <a:t>Questions /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2248</Words>
  <Application>Microsoft Office PowerPoint</Application>
  <PresentationFormat>Widescreen</PresentationFormat>
  <Paragraphs>197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THOMAS AIMIUWU</dc:creator>
  <cp:keywords/>
  <dc:description>generated using python-pptx</dc:description>
  <cp:lastModifiedBy>THOMAS AIMIUWU</cp:lastModifiedBy>
  <cp:revision>19</cp:revision>
  <dcterms:created xsi:type="dcterms:W3CDTF">2013-01-27T09:14:16Z</dcterms:created>
  <dcterms:modified xsi:type="dcterms:W3CDTF">2026-08-19T09:33:07Z</dcterms:modified>
  <cp:category/>
</cp:coreProperties>
</file>